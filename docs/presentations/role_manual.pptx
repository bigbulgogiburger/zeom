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</a:rPr>
              <a:t>◆  ◆  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227"/>
                </a:solidFill>
              </a:rPr>
              <a:t>계정 Role별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87168"/>
            <a:ext cx="12188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C94A"/>
                </a:solidFill>
              </a:rPr>
              <a:t>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6440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D6A4A"/>
                </a:solidFill>
              </a:rPr>
              <a:t>USER  ·  COUNSELOR  ·  ADMIN — 역할별 기능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역할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3611880" cy="576072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361188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960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56DB"/>
                </a:solidFill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3748"/>
                </a:solidFill>
              </a:rPr>
              <a:t>USER
(고객)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78608"/>
            <a:ext cx="288036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3152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상담사 탐색 &amp; 예약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10128"/>
            <a:ext cx="73152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결제 &amp; 환불 신청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77056"/>
            <a:ext cx="73152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7705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화상 상담 참여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43983"/>
            <a:ext cx="73152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3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리뷰 &amp; 분쟁 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10912"/>
            <a:ext cx="73152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지갑(캐시)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749808"/>
            <a:ext cx="3611880" cy="576072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749808"/>
            <a:ext cx="361188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960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C9A227"/>
                </a:solidFill>
              </a:rPr>
              <a:t>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78308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3748"/>
                </a:solidFill>
              </a:rPr>
              <a:t>COUNSELOR
(상담사)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578608"/>
            <a:ext cx="288036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2743200"/>
            <a:ext cx="73152" cy="3108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743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프로필 &amp; 스케줄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310128"/>
            <a:ext cx="73152" cy="3108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3101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예약 확인 &amp; 수락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877056"/>
            <a:ext cx="73152" cy="3108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87705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화상 상담 진행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4443983"/>
            <a:ext cx="73152" cy="3108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443983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수익 &amp; 정산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5010912"/>
            <a:ext cx="73152" cy="3108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50109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리뷰 수신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749808"/>
            <a:ext cx="3611880" cy="576072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749808"/>
            <a:ext cx="36118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960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C2626"/>
                </a:solidFill>
              </a:rPr>
              <a:t>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178308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3748"/>
                </a:solidFill>
              </a:rPr>
              <a:t>ADMIN
(관리자)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578608"/>
            <a:ext cx="288036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5360" y="2743200"/>
            <a:ext cx="73152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743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전체 사용자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310128"/>
            <a:ext cx="73152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33101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결제 모니터링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877056"/>
            <a:ext cx="73152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87705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환불/분쟁 처리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4443983"/>
            <a:ext cx="73152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4443983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운영 통계 대시보드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5010912"/>
            <a:ext cx="73152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50109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시스템 감사 로그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6DB"/>
                </a:solidFill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고객
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65176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042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C94A"/>
                </a:solidFill>
              </a:rPr>
              <a:t>1단계
회원가입 &amp;
상담사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74D"/>
                </a:solidFill>
              </a:rPr>
              <a:t>회원가입 &amp; 로그인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685800"/>
            <a:ext cx="82296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이메일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/signup 페이지
이메일 &amp; 비밀번호 입력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/api/v1/auth/signup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7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3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232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68979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7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로그인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4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이메일/비밀번호
또는 소셜 로그인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1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/api/v1/auth/login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264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토큰 발급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Access Token 15분
Refresh Token 자동 갱신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2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38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382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839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2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프로필 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9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이름·연락처·사진
업로드 선택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9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6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PUT /api/v1/users/me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74D"/>
                </a:solidFill>
              </a:rPr>
              <a:t>상담사 탐색 방법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3493008"/>
            <a:ext cx="82296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20440" y="3657600"/>
            <a:ext cx="2514600" cy="2834640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20440" y="3657600"/>
            <a:ext cx="2514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3822191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카테고리 필터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4251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사주·타로·심리상담 등 전문 분야별 검색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5212080"/>
            <a:ext cx="2331720" cy="36576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5257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/api/v1/counselors?category=saju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657600"/>
            <a:ext cx="2514600" cy="2834640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657600"/>
            <a:ext cx="2514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79" y="3822191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리뷰 점수 정렬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79" y="4251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별점 높은 순 · 경력순 · 인기순 정렬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79" y="5212080"/>
            <a:ext cx="2331720" cy="36576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257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/api/v1/counselors?sort=rating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3657600"/>
            <a:ext cx="2514600" cy="2834640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06840" y="3657600"/>
            <a:ext cx="2514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822191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프로필 상세 열람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4251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포트폴리오 · 자격증 · 리뷰 상세 확인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5212080"/>
            <a:ext cx="2331720" cy="36576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5257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/api/v1/counselors/{id}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6DB"/>
                </a:solidFill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고객
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65176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042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C94A"/>
                </a:solidFill>
              </a:rPr>
              <a:t>2단계
슬롯 예약 &amp;
결제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74D"/>
                </a:solidFill>
              </a:rPr>
              <a:t>예약 &amp; 결제 프로세스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685800"/>
            <a:ext cx="82296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슬롯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캘린더에서
가능 시간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/api/v1/counselors/{id}/slots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7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3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232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68979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7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예약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4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상담사 &amp; 시간
확정 요청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1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/api/v1/bookings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264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결제 준비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PortOne prepare
주문번호 발급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87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/api/v1/payments/portone/prepare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2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38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382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839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2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결제 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9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카드/간편결제
verify &amp; 확정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9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6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/api/v1/payments/portone/verify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127248"/>
            <a:ext cx="8229600" cy="342900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0" y="3127248"/>
            <a:ext cx="8229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327355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결제 상세 안내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373075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결제 수단: 신용카드 · 체크카드 · 카카오페이 · 네이버페이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427939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결제 취소: 상담 시작 전 취소 시 전액 환불 (환불 정책 참조)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82803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지갑 결제: 보유 캐시 차감으로 간편 결제 가능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537667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영수증: 결제 완료 후 이메일 자동 발송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592531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분실 신고: 결제 분쟁 발생 시 /disputes 페이지에서 접수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6DB"/>
                </a:solidFill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고객
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65176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042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C94A"/>
                </a:solidFill>
              </a:rPr>
              <a:t>3단계
상담 &amp; 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74D"/>
                </a:solidFill>
              </a:rPr>
              <a:t>화상상담 진행 &amp; 후기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685800"/>
            <a:ext cx="82296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상담방 입장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예약 시간에
Sendbird 채팅룸 입장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/api/v1/consultations/{id}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7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3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232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68979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7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화상통화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4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1:1 화상/음성
상담 진행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1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Sendbird Calls SDK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264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상담 종료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상담 완료 확인
세션 저장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87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PUT /api/v1/consultations/{id}/complete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2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38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38260" y="868680"/>
            <a:ext cx="27203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83980" y="10515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2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리뷰 작성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9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별점(1-5) &amp;
후기 텍스트 제출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9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6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/api/v1/reviews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200400"/>
            <a:ext cx="2514600" cy="3337560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20440" y="3200400"/>
            <a:ext cx="2514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333756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환불 신청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상담 시작 전: 전액 환불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436168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상담 후: 부분 환불 가능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92861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환불 처리: 3-5 영업일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5925312"/>
            <a:ext cx="233172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0" y="597103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/api/v1/refunds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200400"/>
            <a:ext cx="2514600" cy="3337560"/>
          </a:xfrm>
          <a:prstGeom prst="rect">
            <a:avLst/>
          </a:prstGeom>
          <a:solidFill>
            <a:srgbClr val="FDF9F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3200400"/>
            <a:ext cx="251460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79" y="333756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분쟁 접수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79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문제 발생 시 분쟁 접수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79" y="436168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관리자 검토 후 처리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79" y="492861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증거 자료 업로드 가능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79" y="5925312"/>
            <a:ext cx="233172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597103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POST /api/v1/disputes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3200400"/>
            <a:ext cx="2514600" cy="3337560"/>
          </a:xfrm>
          <a:prstGeom prst="rect">
            <a:avLst/>
          </a:prstGeom>
          <a:solidFill>
            <a:srgbClr val="FDF9F0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06840" y="3200400"/>
            <a:ext cx="251460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98280" y="333756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지갑 관리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캐시 충전: 상품 구매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436168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잔액 확인: 실시간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492861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거래 내역: 전체 조회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5925312"/>
            <a:ext cx="233172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0" y="597103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/api/v1/wallets/my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USER 역할 — 주요 API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361188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인증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3611880" cy="2011680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/api/v1/auth/signup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09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/api/v1/auth/login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67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/api/v1/auth/refresh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624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DELETE /api/v1/auth/logout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749808"/>
            <a:ext cx="361188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7955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탐색 &amp; 예약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115568"/>
            <a:ext cx="3611880" cy="2011680"/>
          </a:xfrm>
          <a:prstGeom prst="rect">
            <a:avLst/>
          </a:prstGeom>
          <a:solidFill>
            <a:srgbClr val="FDF9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/api/v1/counselors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709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/api/v1/counselors/{id}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167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/api/v1/bookings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624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/api/v1/bookings/my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749808"/>
            <a:ext cx="361188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7955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결제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115568"/>
            <a:ext cx="3611880" cy="2011680"/>
          </a:xfrm>
          <a:prstGeom prst="rect">
            <a:avLst/>
          </a:prstGeom>
          <a:solidFill>
            <a:srgbClr val="FDF9F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7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/api/v1/payments/portone/prepare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709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/api/v1/payments/portone/verify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2167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/api/v1/payments/my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2624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/api/v1/refunds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30168"/>
            <a:ext cx="3611880" cy="3657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675887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상담 &amp; 리뷰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95928"/>
            <a:ext cx="3611880" cy="2011680"/>
          </a:xfrm>
          <a:prstGeom prst="rect">
            <a:avLst/>
          </a:prstGeom>
          <a:solidFill>
            <a:srgbClr val="FDF9F0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13308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/api/v1/consultations/{id}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45902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PUT /api/v1/consultations/{id}/complete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5047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5046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/api/v1/reviews/counselor/{id}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630168"/>
            <a:ext cx="361188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59" y="3675887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지갑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995928"/>
            <a:ext cx="3611880" cy="2011680"/>
          </a:xfrm>
          <a:prstGeom prst="rect">
            <a:avLst/>
          </a:prstGeom>
          <a:solidFill>
            <a:srgbClr val="FDF9F0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413308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/api/v1/wallets/my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45902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/api/v1/cash/charge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5047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/api/v1/cash/transactions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55046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/api/v1/products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630168"/>
            <a:ext cx="36118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79" y="3675887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기타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995928"/>
            <a:ext cx="3611880" cy="2011680"/>
          </a:xfrm>
          <a:prstGeom prst="rect">
            <a:avLst/>
          </a:prstGeom>
          <a:solidFill>
            <a:srgbClr val="FDF9F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7" y="413308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/api/v1/disputes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7" y="45902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/api/v1/disputes/my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7" y="5047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/api/v1/refunds/my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7" y="55046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PUT /api/v1/users/me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3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914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</a:rPr>
              <a:t>COUNSELOR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상담사
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651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042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C94A"/>
                </a:solidFill>
              </a:rPr>
              <a:t>1단계
프로필 &amp;
스케줄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2000"/>
                </a:solidFill>
              </a:rPr>
              <a:t>상담사 포탈 — 프로필 &amp; 스케줄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685800"/>
            <a:ext cx="82296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868680"/>
            <a:ext cx="3931920" cy="530352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868680"/>
            <a:ext cx="3931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0241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프로필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4813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프로필 사진 &amp; 소개글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13969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전문 분야 카테고리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79806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자격증 &amp; 경력 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4564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상담 요금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114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공개/비공개 상태 전환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868680"/>
            <a:ext cx="4114800" cy="530352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868680"/>
            <a:ext cx="4114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0241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스케줄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813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주별 가용 시간 블록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13969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날짜별 예외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79806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최소 예약 단위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4564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예약 버퍼 시간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148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휴무일 일괄 등록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6263640"/>
            <a:ext cx="822960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630936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9A227"/>
                </a:solidFill>
              </a:rPr>
              <a:t>API: GET/PUT /api/v1/counselors/me  ·  POST /api/v1/counselors/slots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3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914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</a:rPr>
              <a:t>COUNSELOR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상담사
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651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042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C94A"/>
                </a:solidFill>
              </a:rPr>
              <a:t>2단계
예약 확인 &amp;
상담 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2000"/>
                </a:solidFill>
              </a:rPr>
              <a:t>예약 관리 &amp; 화상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685800"/>
            <a:ext cx="82296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868680"/>
            <a:ext cx="27203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105156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예약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신규 예약 알림
고객 정보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/api/v1/bookings/counselor/{id}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7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3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23260" y="868680"/>
            <a:ext cx="27203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68979" y="105156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7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스케줄 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4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예약 당일
상담 준비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1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GET /api/v1/consultations/counselor/{id}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868680"/>
            <a:ext cx="27203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26480" y="105156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상담 진행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고객 입장 대기
화상통화 시작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87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Sendbird Calls SDK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2228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38260" y="868680"/>
            <a:ext cx="2720340" cy="201168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38260" y="868680"/>
            <a:ext cx="27203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83980" y="105156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2932" y="1069848"/>
            <a:ext cx="18516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748"/>
                </a:solidFill>
              </a:rPr>
              <a:t>상담 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9700" y="1764792"/>
            <a:ext cx="25831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6A4A"/>
                </a:solidFill>
              </a:rPr>
              <a:t>완료 상태 업데이트
메모 저장 가능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9700" y="2377439"/>
            <a:ext cx="258318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6276" y="2441448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9A227"/>
                </a:solidFill>
              </a:rPr>
              <a:t>PUT /api/v1/consultations/{id}/complete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154680"/>
            <a:ext cx="1920240" cy="1143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99.2%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3703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ECE0"/>
                </a:solidFill>
              </a:rPr>
              <a:t>예약 수락률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3154680"/>
            <a:ext cx="1920240" cy="1143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4.8 / 5.0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3703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ECE0"/>
                </a:solidFill>
              </a:rPr>
              <a:t>평균 평점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3154680"/>
            <a:ext cx="1920240" cy="114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79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&lt; 1분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3703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ECE0"/>
                </a:solidFill>
              </a:rPr>
              <a:t>응답 시간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800" y="3154680"/>
            <a:ext cx="1920240" cy="11430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980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투명 정산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3703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ECE0"/>
                </a:solidFill>
              </a:rPr>
              <a:t>월 수익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4462272"/>
            <a:ext cx="8229600" cy="2176272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74720" y="4462272"/>
            <a:ext cx="82296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4590288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리뷰 &amp; 수익 확인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1880" y="5047488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고객이 제출한 별점 및 후기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54864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수익 내역 및 정산 일정 확인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11880" y="592531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리뷰 응답 (답글) 기능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11880" y="6364223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월별 수익 통계 대시보드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4513"/>
                </a:solidFill>
              </a:rPr>
              <a:t>COUNSELOR 역할 — 주요 API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361188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프로필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3611880" cy="2103120"/>
          </a:xfrm>
          <a:prstGeom prst="rect">
            <a:avLst/>
          </a:prstGeom>
          <a:solidFill>
            <a:srgbClr val="FDF9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/api/v1/counselors/me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PUT /api/v1/counselors/me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762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POST /api/v1/counselors/slots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633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DELETE /api/v1/counselors/slots/{id}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749808"/>
            <a:ext cx="361188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7955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예약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115568"/>
            <a:ext cx="3611880" cy="2103120"/>
          </a:xfrm>
          <a:prstGeom prst="rect">
            <a:avLst/>
          </a:prstGeom>
          <a:solidFill>
            <a:srgbClr val="FDF9F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261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/api/v1/bookings/counselor/{id}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PUT /api/v1/bookings/{id}/accept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1762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PUT /api/v1/bookings/{id}/reject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633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/api/v1/bookings/{id}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749808"/>
            <a:ext cx="3611880" cy="3657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7955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상담 &amp; 수익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115568"/>
            <a:ext cx="3611880" cy="2103120"/>
          </a:xfrm>
          <a:prstGeom prst="rect">
            <a:avLst/>
          </a:prstGeom>
          <a:solidFill>
            <a:srgbClr val="FDF9F0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7" y="1261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/api/v1/consultations/counselor/{id}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PUT /api/v1/consultations/{id}/complete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21762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/api/v1/reviews/counselor/{id}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2633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GET /api/v1/payments/counselor/{id}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11521440" cy="324612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383280"/>
            <a:ext cx="115214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상담사 포탈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50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상담사 포탈 URL: /counselor/* (로그인 후 ROLE_COUNSELOR 권한 필요)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44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포탈 메뉴: 대시보드 · 스케줄 · 예약목록 · 상담이력 · 수익현황 · 프로필 설정 · 리뷰 · 알림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38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신규 예약 발생 시 이메일 + 푸시 알림 자동 발송 (알림 설정 가능)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332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◼  정산 주기: 매월 15일 기준 전월 완료 상담 정산 (3-5 영업일 소요)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3D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C2626"/>
                </a:solidFill>
              </a:rP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관리자
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65176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042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C94A"/>
                </a:solidFill>
              </a:rPr>
              <a:t>1단계
사용자 &amp;
결제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0404"/>
                </a:solidFill>
              </a:rPr>
              <a:t>관리자 대시보드 — 사용자 &amp; 결제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685800"/>
            <a:ext cx="82296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868680"/>
            <a:ext cx="3886200" cy="534924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868680"/>
            <a:ext cx="3886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0241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사용자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0168" y="1463040"/>
            <a:ext cx="36576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1572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전체 사용자 목록 조회 &amp;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2585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사용자 상태 변경 (활성/정지/탈퇴)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9443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역할 부여/취소 (USER ↔ COUNSELOR)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630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사용자 상세 정보 열람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868680"/>
            <a:ext cx="3886200" cy="534924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868680"/>
            <a:ext cx="388620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10241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748"/>
                </a:solidFill>
              </a:rPr>
              <a:t>결제 모니터링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36407" y="1463040"/>
            <a:ext cx="36576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6407" y="1572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전체 결제 목록 &amp; 상태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7" y="22585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결제 상세 내역 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7" y="29443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실패 결제 재처리 트리거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7" y="3630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◆  일별/월별 매출 통계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6309360"/>
            <a:ext cx="822960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635508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9A227"/>
                </a:solidFill>
              </a:rPr>
              <a:t>URL: /admin/* — ROLE_ADMIN 권한 필수 — 모든 API에 AdminAuthGuard 적용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3D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C2626"/>
                </a:solidFill>
              </a:rP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관리자
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65176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042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C94A"/>
                </a:solidFill>
              </a:rPr>
              <a:t>2단계
환불/분쟁 &amp;
운영 통계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0404"/>
                </a:solidFill>
              </a:rPr>
              <a:t>환불/분쟁 처리 &amp; 운영 통계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685800"/>
            <a:ext cx="82296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868680"/>
            <a:ext cx="2606040" cy="534924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868680"/>
            <a:ext cx="26060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0241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환불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1463040"/>
            <a:ext cx="242316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5727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환불 신청 목록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2585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환불 승인: PUT /api/v1/refunds/{id}/approve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443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환불 거부: PUT /api/v1/refunds/{id}/reject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6301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PortOne 자동 취소 연동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868680"/>
            <a:ext cx="2606040" cy="534924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86868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0241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분쟁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463040"/>
            <a:ext cx="242316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5727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분쟁 접수 목록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2585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분쟁 상태 업데이트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9443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양측 당사자 커뮤니케이션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301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최종 결정 &amp; 보상 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868680"/>
            <a:ext cx="2606040" cy="534924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868680"/>
            <a:ext cx="260604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0241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운영 통계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1463040"/>
            <a:ext cx="242316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15727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DAU/MAU 사용자 지표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2585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매출 &amp; 결제 전환율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9443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상담사 활동 통계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6301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타임라인 이벤트 로그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6309360"/>
            <a:ext cx="8229600" cy="384048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635508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9A227"/>
                </a:solidFill>
              </a:rPr>
              <a:t>감사 로그: 모든 관리자 작업은 AuditLog에 자동 기록됩니다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4513"/>
                </a:solidFill>
              </a:rPr>
              <a:t>ADMIN 역할 — 주요 API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54864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사용자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486400" cy="1700784"/>
          </a:xfrm>
          <a:prstGeom prst="rect">
            <a:avLst/>
          </a:prstGeom>
          <a:solidFill>
            <a:srgbClr val="FDF9F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GET /api/v1/admin/users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PUT /api/v1/admin/users/{id}/status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311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PUT /api/v1/admin/users/{id}/role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749808"/>
            <a:ext cx="548640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795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결제 &amp; 환불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15568"/>
            <a:ext cx="5486400" cy="1700784"/>
          </a:xfrm>
          <a:prstGeom prst="rect">
            <a:avLst/>
          </a:prstGeom>
          <a:solidFill>
            <a:srgbClr val="FDF9F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GET /api/v1/admin/payments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55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PUT /api/v1/refunds/{id}/approve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311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PUT /api/v1/refunds/{id}/reject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30168"/>
            <a:ext cx="548640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6758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분쟁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95928"/>
            <a:ext cx="5486400" cy="1700784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GET /api/v1/disputes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360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GET /api/v1/disputes/{id}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114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PUT /api/v1/admin/disputes/{id}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630168"/>
            <a:ext cx="5486400" cy="3657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758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운영 통계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995928"/>
            <a:ext cx="5486400" cy="1700784"/>
          </a:xfrm>
          <a:prstGeom prst="rect">
            <a:avLst/>
          </a:prstGeom>
          <a:solidFill>
            <a:srgbClr val="FDF9F0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GET /api/v1/ops/summary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360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GET /api/v1/ops/timeline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114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GET /api/v1/admin/audit-logs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989320"/>
            <a:ext cx="11521440" cy="68580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</a:rPr>
              <a:t>보안: 모든 /admin/* 경로는 @PreAuthorize("hasRole('ADMIN')") 가드 + AdminAuthGuard 이중 보호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73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C94A"/>
                </a:solidFill>
              </a:rPr>
              <a:t>접근 제어: JWT 토큰 내 ROLE_ADMIN 클레임 검증 + 요청 IP 화이트리스트 (프로덕션)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4513"/>
                </a:solidFill>
              </a:rPr>
              <a:t>공통 기능 &amp; 보안 체크리스트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5486400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80467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공통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33856"/>
            <a:ext cx="5486400" cy="2331720"/>
          </a:xfrm>
          <a:prstGeom prst="rect">
            <a:avLst/>
          </a:prstGeom>
          <a:solidFill>
            <a:srgbClr val="FDF9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01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세션 만료 자동 감지 &amp; 재로그인 유도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1907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서비스 중단 시 503 에러 페이지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5798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알림 수신 설정 (이메일/푸시 선택)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9689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다국어 지원 준비 (한국어 기본)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035808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모바일 반응형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749808"/>
            <a:ext cx="548640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80467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보안 주의사항 — 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33856"/>
            <a:ext cx="5486400" cy="2331720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2801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비밀번호: 8자 이상, 특수문자 포함 권장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1907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이상 거래 감지 시 계정 잠금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15798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결제 정보는 PortOne에서 직접 처리 (노출 없음)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59689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개인정보 수정 시 현재 비밀번호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84448"/>
            <a:ext cx="5486400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639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보안 주의사항 — COUNSELOR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68496"/>
            <a:ext cx="5486400" cy="2331720"/>
          </a:xfrm>
          <a:prstGeom prst="rect">
            <a:avLst/>
          </a:prstGeom>
          <a:solidFill>
            <a:srgbClr val="FDF9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1148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포탈 로그인 세션: 30분 자동 만료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5537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고객 개인정보 외부 공유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99262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수익 정산 계좌 변경 시 본인 인증 필수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43153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무단 슬롯 취소 3회 이상 시 페널티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584448"/>
            <a:ext cx="54864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3639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보안 주의사항 — ADMIN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68496"/>
            <a:ext cx="5486400" cy="2331720"/>
          </a:xfrm>
          <a:prstGeom prst="rect">
            <a:avLst/>
          </a:prstGeom>
          <a:solidFill>
            <a:srgbClr val="FDF9F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1148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관리자 계정: 이중 인증(2FA) 권장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5537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민감 API 호출 기록은 AuditLog 보관 (90일)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99262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프로덕션 DB 직접 접근 금지 — API만 사용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43153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◼  관리자 권한 부여는 슈퍼 어드민 승인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</a:rPr>
              <a:t>◆  ◆  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C94A"/>
                </a:solidFill>
              </a:rPr>
              <a:t>천지연꽃신당과 함께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231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</a:rPr>
              <a:t>신뢰받는 상담을 경험하세요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7355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D6A4A"/>
                </a:solidFill>
              </a:rPr>
              <a:t>USER  ·  COUNSELOR  ·  ADMIN — 각자의 역할로 만들어가는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D6A4A"/>
                </a:solidFill>
              </a:rPr>
              <a:t>문의: contact@cheonjiyeon.kr  ·  천지연꽃신당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