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227"/>
                </a:solidFill>
              </a:rPr>
              <a:t>◆  ◆  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A227"/>
                </a:solidFill>
              </a:rPr>
              <a:t>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346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C94A"/>
                </a:solidFill>
              </a:rPr>
              <a:t>천지연꽃신당 기술 설계 문서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Architecture Overview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시스템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731520"/>
            <a:ext cx="2377440" cy="7315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822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Web 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731520"/>
            <a:ext cx="2377440" cy="73152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822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Flutter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731520"/>
            <a:ext cx="2377440" cy="7315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822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81328"/>
            <a:ext cx="91440" cy="411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1828800"/>
            <a:ext cx="64008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874519"/>
            <a:ext cx="5788152" cy="640080"/>
          </a:xfrm>
          <a:prstGeom prst="rect">
            <a:avLst/>
          </a:prstGeom>
          <a:solidFill>
            <a:srgbClr val="37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874519"/>
            <a:ext cx="57881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965960"/>
            <a:ext cx="5788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</a:rPr>
              <a:t>Load Balancer / API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532888"/>
            <a:ext cx="91440" cy="411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880360"/>
            <a:ext cx="64008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2926080"/>
            <a:ext cx="7616952" cy="914400"/>
          </a:xfrm>
          <a:prstGeom prst="rect">
            <a:avLst/>
          </a:prstGeom>
          <a:solidFill>
            <a:srgbClr val="2A1A0A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310896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</a:rPr>
              <a:t>Spring Boot 3.5  Backend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456432"/>
            <a:ext cx="7616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C94A"/>
                </a:solidFill>
              </a:rPr>
              <a:t>Java 21  ·  16 Controllers  ·  58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858768"/>
            <a:ext cx="91440" cy="41148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858768"/>
            <a:ext cx="91440" cy="41148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3858768"/>
            <a:ext cx="91440" cy="41148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3200400" cy="1554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3200400" cy="54864"/>
          </a:xfrm>
          <a:prstGeom prst="rect">
            <a:avLst/>
          </a:prstGeom>
          <a:solidFill>
            <a:srgbClr val="E8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348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MySQL 8
(Primary DB)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C94A"/>
                </a:solidFill>
              </a:rPr>
              <a:t>Tables: 19  ·  Flyway Migrations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297680"/>
            <a:ext cx="3200400" cy="155448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4297680"/>
            <a:ext cx="3200400" cy="54864"/>
          </a:xfrm>
          <a:prstGeom prst="rect">
            <a:avLst/>
          </a:prstGeom>
          <a:solidFill>
            <a:srgbClr val="E8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4348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Redis
(Cache / Lock)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120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C94A"/>
                </a:solidFill>
              </a:rPr>
              <a:t>Distributed Lock  ·  Session 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4297680"/>
            <a:ext cx="3200400" cy="155448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0" y="4297680"/>
            <a:ext cx="3200400" cy="54864"/>
          </a:xfrm>
          <a:prstGeom prst="rect">
            <a:avLst/>
          </a:prstGeom>
          <a:solidFill>
            <a:srgbClr val="E8C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4348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External Providers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120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C94A"/>
                </a:solidFill>
              </a:rPr>
              <a:t>PortOne  ·  Sendbird  · 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Backend 레이어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1430000" cy="87782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0972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326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Controller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0"/>
                </a:solidFill>
              </a:rPr>
              <a:t>HTTP 요청 수신 · Request Validation · Response 직렬화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914400"/>
            <a:ext cx="36576" cy="694944"/>
          </a:xfrm>
          <a:prstGeom prst="rect">
            <a:avLst/>
          </a:prstGeom>
          <a:solidFill>
            <a:srgbClr val="FFF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06984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16개 REST 컨트롤러  ·  58 엔드포인트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11430000" cy="87782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74519"/>
            <a:ext cx="10972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842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Service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5000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0"/>
                </a:solidFill>
              </a:rPr>
              <a:t>비즈니스 로직 · 트랜잭션 관리 · 도메인 이벤트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965960"/>
            <a:ext cx="36576" cy="694944"/>
          </a:xfrm>
          <a:prstGeom prst="rect">
            <a:avLst/>
          </a:prstGeom>
          <a:solidFill>
            <a:srgbClr val="FFF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2140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트랜잭션 경계 정의  ·  보상 패턴 적용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26079"/>
            <a:ext cx="11430000" cy="87782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926079"/>
            <a:ext cx="10972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035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Repository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0156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0"/>
                </a:solidFill>
              </a:rPr>
              <a:t>JPA 영속성 · 쿼리 최적화 · Flyway 스키마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017520"/>
            <a:ext cx="36576" cy="694944"/>
          </a:xfrm>
          <a:prstGeom prst="rect">
            <a:avLst/>
          </a:prstGeom>
          <a:solidFill>
            <a:srgbClr val="FFF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1729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19개 DB 테이블  ·  N+1 방지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11430000" cy="87782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77639"/>
            <a:ext cx="10972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873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Provider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53127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0"/>
                </a:solidFill>
              </a:rPr>
              <a:t>외부 서비스 추상화 · Fake(dev) / Real(prod) 전략 패턴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069079"/>
            <a:ext cx="36576" cy="694944"/>
          </a:xfrm>
          <a:prstGeom prst="rect">
            <a:avLst/>
          </a:prstGeom>
          <a:solidFill>
            <a:srgbClr val="FFF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224527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PortOne · Sendbird · Notification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29200"/>
            <a:ext cx="11430000" cy="87782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029200"/>
            <a:ext cx="10972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1389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50468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ECE0"/>
                </a:solidFill>
              </a:rPr>
              <a:t>Redis 분산락 · 스케줄러 · CORS · Rate Limiting · 보안 헤더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5120640"/>
            <a:ext cx="36576" cy="694944"/>
          </a:xfrm>
          <a:prstGeom prst="rect">
            <a:avLst/>
          </a:prstGeom>
          <a:solidFill>
            <a:srgbClr val="FFF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52760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Redis  ·  버킷4j  ·  Spring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Backend 패키지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4513"/>
                </a:solidFill>
              </a:rPr>
              <a:t>도메인 패키지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029200" cy="36576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508760" cy="4754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188720"/>
            <a:ext cx="1508760" cy="47548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26187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booking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188720"/>
            <a:ext cx="1508760" cy="47548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26187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28800"/>
            <a:ext cx="1508760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0195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828800"/>
            <a:ext cx="1508760" cy="475488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190195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1828800"/>
            <a:ext cx="1508760" cy="47548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190195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counselor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68880"/>
            <a:ext cx="1508760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54203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wallet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468880"/>
            <a:ext cx="1508760" cy="47548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254203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2468880"/>
            <a:ext cx="1508760" cy="4754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254203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108959"/>
            <a:ext cx="1508760" cy="475488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182111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consultation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108959"/>
            <a:ext cx="1508760" cy="47548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3182111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3108959"/>
            <a:ext cx="1508760" cy="47548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3182111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refund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749039"/>
            <a:ext cx="1508760" cy="475488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822191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dispute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6583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</a:rPr>
              <a:t>인프라 &amp; 공통 패키지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051560"/>
            <a:ext cx="54864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1188720"/>
            <a:ext cx="1600200" cy="47548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126187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portone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19" y="1188720"/>
            <a:ext cx="1600200" cy="47548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19" y="126187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sendbird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1188720"/>
            <a:ext cx="1600200" cy="475488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126187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1828800"/>
            <a:ext cx="1600200" cy="47548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190195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scheduler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19" y="1828800"/>
            <a:ext cx="1600200" cy="47548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19" y="190195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800" y="1828800"/>
            <a:ext cx="1600200" cy="475488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190195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2468880"/>
            <a:ext cx="1600200" cy="47548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5420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alert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19" y="2468880"/>
            <a:ext cx="1600200" cy="4754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19" y="25420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2468880"/>
            <a:ext cx="1600200" cy="475488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25420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common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297680"/>
            <a:ext cx="1143000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4074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D6A4A"/>
                </a:solidFill>
              </a:rPr>
              <a:t>com.cheonjiyeon.api — 전체 패키지는 Provider 패턴으로 fake/real 구현을 런타임에 교체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846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56DB"/>
                </a:solidFill>
              </a:rPr>
              <a:t>PAYMENT_PROVIDER=portone | fake    CHAT_PROVIDER=sendbird | fake    NOTIFICATION_PROVIDER=http | fake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인증 흐름 (JWT)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645920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371600"/>
            <a:ext cx="1645920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1645920" cy="7772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63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AuthService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1645920" cy="77724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TokenStore
(Redis)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164592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63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UserRepo
(DB)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1371600"/>
            <a:ext cx="1645920" cy="77724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1463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1728216"/>
            <a:ext cx="365759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6A4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728216"/>
            <a:ext cx="365759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6A4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728216"/>
            <a:ext cx="365760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6A4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728216"/>
            <a:ext cx="365759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6A4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728216"/>
            <a:ext cx="365760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554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6A4A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43200"/>
            <a:ext cx="2697480" cy="35661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743200"/>
            <a:ext cx="269748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9077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Access Token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364992"/>
            <a:ext cx="237744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45643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15분 유효
HS256 서명
Bearer 헤더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2743200"/>
            <a:ext cx="2697480" cy="35661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2743200"/>
            <a:ext cx="269748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29077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Refresh Token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3364992"/>
            <a:ext cx="237744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345643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14일 유효
HTTP-Only Cookie
자동 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743200"/>
            <a:ext cx="2697480" cy="35661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2743200"/>
            <a:ext cx="269748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9077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Token Rotation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364992"/>
            <a:ext cx="237744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45643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사용 시 재발급
탈취 방어
다중 기기 지원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2743200"/>
            <a:ext cx="2697480" cy="35661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2743200"/>
            <a:ext cx="269748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29077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역할 기반 인가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3364992"/>
            <a:ext cx="2377440" cy="27432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345643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6A4A"/>
                </a:solidFill>
              </a:rPr>
              <a:t>ROLE_USER
ROLE_COUNSELOR
ROLE_ADMIN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핵심 비즈니스 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651760" cy="53949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6517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188720"/>
            <a:ext cx="822960" cy="8229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3748"/>
                </a:solidFill>
              </a:rPr>
              <a:t>상담사 탐색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70048"/>
            <a:ext cx="210312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6A4A"/>
                </a:solidFill>
              </a:rPr>
              <a:t>카테고리/지역 필터
리뷰 점수 정렬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06240"/>
            <a:ext cx="2377440" cy="45720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251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227"/>
                </a:solidFill>
              </a:rPr>
              <a:t>GET /api/v1/counselors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960120"/>
            <a:ext cx="2651760" cy="53949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960120"/>
            <a:ext cx="265176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29000" y="1188720"/>
            <a:ext cx="822960" cy="82296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3748"/>
                </a:solidFill>
              </a:rPr>
              <a:t>슬롯 예약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670048"/>
            <a:ext cx="210312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788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6A4A"/>
                </a:solidFill>
              </a:rPr>
              <a:t>가용 시간 선택
예약 생성 &amp;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4206240"/>
            <a:ext cx="2377440" cy="45720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4251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227"/>
                </a:solidFill>
              </a:rPr>
              <a:t>POST /api/v1/bookings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960120"/>
            <a:ext cx="2651760" cy="53949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960120"/>
            <a:ext cx="265176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80" y="1188720"/>
            <a:ext cx="822960" cy="82296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3748"/>
                </a:solidFill>
              </a:rPr>
              <a:t>결제 처리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670048"/>
            <a:ext cx="210312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788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6A4A"/>
                </a:solidFill>
              </a:rPr>
              <a:t>PortOne prepare
verify → webhook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206240"/>
            <a:ext cx="2377440" cy="45720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251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227"/>
                </a:solidFill>
              </a:rPr>
              <a:t>POST /api/v1/payments/portone/*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960120"/>
            <a:ext cx="2651760" cy="53949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960120"/>
            <a:ext cx="265176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81160" y="1188720"/>
            <a:ext cx="822960" cy="822960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D3748"/>
                </a:solidFill>
              </a:rPr>
              <a:t>화상 상담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670048"/>
            <a:ext cx="210312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2788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D6A4A"/>
                </a:solidFill>
              </a:rPr>
              <a:t>Sendbird 채팅룸 생성
1:1 화상/음성 연결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4206240"/>
            <a:ext cx="2377440" cy="45720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08592" y="4251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227"/>
                </a:solidFill>
              </a:rPr>
              <a:t>POST /api/v1/consultations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4513"/>
                </a:solidFill>
              </a:rPr>
              <a:t>결제 보상 패턴 (Compensation Pattern)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822960"/>
            <a:ext cx="3566160" cy="7772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9144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1208"/>
                </a:solidFill>
              </a:rPr>
              <a:t>결제 확정 (PAID)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600200"/>
            <a:ext cx="91440" cy="4572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0" y="2057400"/>
            <a:ext cx="3657600" cy="64008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2057400"/>
            <a:ext cx="1371600" cy="64008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2057400"/>
            <a:ext cx="64008" cy="4572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92640" y="2057400"/>
            <a:ext cx="64008" cy="4572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2514600"/>
            <a:ext cx="2743200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채팅룸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C94A"/>
                </a:solidFill>
              </a:rPr>
              <a:t>SendbirdProvider
.createChannel()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703320"/>
            <a:ext cx="1188720" cy="6858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3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성공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703320"/>
            <a:ext cx="1234440" cy="685800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3749039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실패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389120"/>
            <a:ext cx="64008" cy="4572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360" y="4389120"/>
            <a:ext cx="64008" cy="4572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4846320"/>
            <a:ext cx="2743200" cy="64008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4846320"/>
            <a:ext cx="64008" cy="4572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5321808"/>
            <a:ext cx="2743200" cy="77724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6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227"/>
                </a:solidFill>
              </a:rPr>
              <a:t>*_retry_needed 로그
+ 알림 웹훅 발송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514600"/>
            <a:ext cx="2743200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알림 발송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C94A"/>
                </a:solidFill>
              </a:rPr>
              <a:t>NotificationProvider
.send()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703320"/>
            <a:ext cx="1188720" cy="6858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74903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성공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3703320"/>
            <a:ext cx="1234440" cy="685800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3749039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실패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4389120"/>
            <a:ext cx="64008" cy="4572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55480" y="4389120"/>
            <a:ext cx="64008" cy="4572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846320"/>
            <a:ext cx="2743200" cy="64008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0" y="4846320"/>
            <a:ext cx="64008" cy="45720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5321808"/>
            <a:ext cx="2743200" cy="77724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539496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227"/>
                </a:solidFill>
              </a:rPr>
              <a:t>*_retry_needed 로그
+ 알림 웹훅 발송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4513"/>
                </a:solidFill>
              </a:rPr>
              <a:t>핵심 원칙: 결제 확정은 먼저 영속 저장 — 다운스트림 실패는 결제를 롤백하지 않고 재시도 대기열 + 운영자 알림으로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DB 스키마 (주요 테이블)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26517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2651760" cy="2194560"/>
          </a:xfrm>
          <a:prstGeom prst="rect">
            <a:avLst/>
          </a:prstGeom>
          <a:solidFill>
            <a:srgbClr val="FDF9F0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88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id (PK)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27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66543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0545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731520"/>
            <a:ext cx="2651760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7772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counselors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115568"/>
            <a:ext cx="2651760" cy="2194560"/>
          </a:xfrm>
          <a:prstGeom prst="rect">
            <a:avLst/>
          </a:prstGeom>
          <a:solidFill>
            <a:srgbClr val="FDF9F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1188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id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627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user_id (FK)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066543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50545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rating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731520"/>
            <a:ext cx="2651760" cy="38404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7772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bookings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115568"/>
            <a:ext cx="2651760" cy="2194560"/>
          </a:xfrm>
          <a:prstGeom prst="rect">
            <a:avLst/>
          </a:prstGeom>
          <a:solidFill>
            <a:srgbClr val="FDF9F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188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id (PK)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1627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user_id (FK)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066543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counselor_id (FK)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50545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slot_time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731520"/>
            <a:ext cx="2651760" cy="38404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7772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1115568"/>
            <a:ext cx="2651760" cy="2194560"/>
          </a:xfrm>
          <a:prstGeom prst="rect">
            <a:avLst/>
          </a:prstGeom>
          <a:solidFill>
            <a:srgbClr val="FDF9F0"/>
          </a:solidFill>
          <a:ln w="127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36607" y="1188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id (PK)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7" y="1627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booking_id (FK)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7" y="2066543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amount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7" y="250545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7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portone_id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57600"/>
            <a:ext cx="2651760" cy="38404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703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wallets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2651760" cy="1755648"/>
          </a:xfrm>
          <a:prstGeom prst="rect">
            <a:avLst/>
          </a:prstGeom>
          <a:solidFill>
            <a:srgbClr val="FDF9F0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4114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id (PK)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455371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user_id (FK)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49926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balance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543153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updated_at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657600"/>
            <a:ext cx="2651760" cy="384048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3703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reviews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4041648"/>
            <a:ext cx="2651760" cy="2194560"/>
          </a:xfrm>
          <a:prstGeom prst="rect">
            <a:avLst/>
          </a:prstGeom>
          <a:solidFill>
            <a:srgbClr val="FDF9F0"/>
          </a:solidFill>
          <a:ln w="127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01568" y="4114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id (PK)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01568" y="455371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user_id (FK)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1568" y="49926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counselor_id (FK)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01568" y="543153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rating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01568" y="587044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content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657600"/>
            <a:ext cx="2651760" cy="384048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703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refunds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4041648"/>
            <a:ext cx="2651760" cy="2194560"/>
          </a:xfrm>
          <a:prstGeom prst="rect">
            <a:avLst/>
          </a:prstGeom>
          <a:solidFill>
            <a:srgbClr val="FDF9F0"/>
          </a:solidFill>
          <a:ln w="127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4114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id (PK)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455371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payment_id (FK)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49926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amount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19088" y="543153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status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587044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reason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3657600"/>
            <a:ext cx="2651760" cy="384048"/>
          </a:xfrm>
          <a:prstGeom prst="rect">
            <a:avLst/>
          </a:prstGeom>
          <a:solidFill>
            <a:srgbClr val="0E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0" y="3703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chat_rooms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26880" y="4041648"/>
            <a:ext cx="2651760" cy="1755648"/>
          </a:xfrm>
          <a:prstGeom prst="rect">
            <a:avLst/>
          </a:prstGeom>
          <a:solidFill>
            <a:srgbClr val="FDF9F0"/>
          </a:solidFill>
          <a:ln w="12700">
            <a:solidFill>
              <a:srgbClr val="0E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36607" y="4114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id (PK)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36607" y="455371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booking_id (FK)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36607" y="49926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sendbird_url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36607" y="543153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</a:rPr>
              <a:t>status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26080" y="1115568"/>
            <a:ext cx="365760" cy="36576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43600" y="1115568"/>
            <a:ext cx="365760" cy="36576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961120" y="1115568"/>
            <a:ext cx="365760" cy="36576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Provider 패턴 (전략 패턴)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3474720" cy="9601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869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«interface»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PaymentProvider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0ECE0"/>
                </a:solidFill>
              </a:rPr>
              <a:t>결제 처리 인터페이스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1783080"/>
            <a:ext cx="64008" cy="50292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286000"/>
            <a:ext cx="2395728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2331720"/>
            <a:ext cx="1645920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77440"/>
            <a:ext cx="1600200" cy="2286000"/>
          </a:xfrm>
          <a:prstGeom prst="rect">
            <a:avLst/>
          </a:prstGeom>
          <a:solidFill>
            <a:srgbClr val="FDF9F0"/>
          </a:solidFill>
          <a:ln w="254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77440"/>
            <a:ext cx="160020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48716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3748"/>
                </a:solidFill>
              </a:rPr>
              <a:t>FakePaymentProvider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0175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6A4A"/>
                </a:solidFill>
              </a:rPr>
              <a:t>개발/테스트용
인메모리 구현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2848" y="2331720"/>
            <a:ext cx="1645920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40279" y="2377440"/>
            <a:ext cx="1600200" cy="2286000"/>
          </a:xfrm>
          <a:prstGeom prst="rect">
            <a:avLst/>
          </a:prstGeom>
          <a:solidFill>
            <a:srgbClr val="FDF9F0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79" y="2377440"/>
            <a:ext cx="16002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67712" y="248716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3748"/>
                </a:solidFill>
              </a:rPr>
              <a:t>PortOnePaymentProvider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30175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6A4A"/>
                </a:solidFill>
              </a:rPr>
              <a:t>프로덕션
PortOne API 연동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822960"/>
            <a:ext cx="3474720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868680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8869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«interface»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115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ChatProvider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5087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0ECE0"/>
                </a:solidFill>
              </a:rPr>
              <a:t>채팅 서비스 인터페이스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783080"/>
            <a:ext cx="64008" cy="50292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46320" y="2286000"/>
            <a:ext cx="2395728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2331720"/>
            <a:ext cx="1645920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2377440"/>
            <a:ext cx="1600200" cy="2286000"/>
          </a:xfrm>
          <a:prstGeom prst="rect">
            <a:avLst/>
          </a:prstGeom>
          <a:solidFill>
            <a:srgbClr val="FDF9F0"/>
          </a:solidFill>
          <a:ln w="254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2377440"/>
            <a:ext cx="160020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248716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3748"/>
                </a:solidFill>
              </a:rPr>
              <a:t>FakeChatProvider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30175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6A4A"/>
                </a:solidFill>
              </a:rPr>
              <a:t>개발/테스트용
인메모리 구현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2331720"/>
            <a:ext cx="1645920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2377440"/>
            <a:ext cx="1600200" cy="2286000"/>
          </a:xfrm>
          <a:prstGeom prst="rect">
            <a:avLst/>
          </a:prstGeom>
          <a:solidFill>
            <a:srgbClr val="FDF9F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2377440"/>
            <a:ext cx="16002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1" y="248716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3748"/>
                </a:solidFill>
              </a:rPr>
              <a:t>SendbirdChatProvider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1" y="30175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6A4A"/>
                </a:solidFill>
              </a:rPr>
              <a:t>프로덕션
Sendbird API 연동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822960"/>
            <a:ext cx="3474720" cy="960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20" y="868680"/>
            <a:ext cx="338328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8869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«interface»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1115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NotificationProvider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15087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0ECE0"/>
                </a:solidFill>
              </a:rPr>
              <a:t>알림 발송 인터페이스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1783080"/>
            <a:ext cx="64008" cy="502920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78240" y="2286000"/>
            <a:ext cx="2395728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39327" y="2331720"/>
            <a:ext cx="1645920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66760" y="2377440"/>
            <a:ext cx="1600200" cy="2286000"/>
          </a:xfrm>
          <a:prstGeom prst="rect">
            <a:avLst/>
          </a:prstGeom>
          <a:solidFill>
            <a:srgbClr val="FDF9F0"/>
          </a:solidFill>
          <a:ln w="254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66760" y="2377440"/>
            <a:ext cx="160020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4192" y="248716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3748"/>
                </a:solidFill>
              </a:rPr>
              <a:t>FakeNotificationProvider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30175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6A4A"/>
                </a:solidFill>
              </a:rPr>
              <a:t>개발/테스트용
인메모리 구현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76688" y="2331720"/>
            <a:ext cx="1645920" cy="54864"/>
          </a:xfrm>
          <a:prstGeom prst="rect">
            <a:avLst/>
          </a:prstGeom>
          <a:solidFill>
            <a:srgbClr val="7D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04120" y="2377440"/>
            <a:ext cx="1600200" cy="2286000"/>
          </a:xfrm>
          <a:prstGeom prst="rect">
            <a:avLst/>
          </a:prstGeom>
          <a:solidFill>
            <a:srgbClr val="FDF9F0"/>
          </a:solidFill>
          <a:ln w="254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04120" y="2377440"/>
            <a:ext cx="160020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31552" y="248716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3748"/>
                </a:solidFill>
              </a:rPr>
              <a:t>HttpNotificationProvider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1552" y="30175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6A4A"/>
                </a:solidFill>
              </a:rPr>
              <a:t>프로덕션
HTTP 웹훅 발송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029200"/>
            <a:ext cx="11430000" cy="100584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138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</a:rPr>
              <a:t>환경변수로 런타임 교체: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468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C94A"/>
                </a:solidFill>
              </a:rPr>
              <a:t>PAYMENT_PROVIDER=portone | fake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5138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C94A"/>
                </a:solidFill>
              </a:rPr>
              <a:t>CHAT_PROVIDER=sendbird | fake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5468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C94A"/>
                </a:solidFill>
              </a:rPr>
              <a:t>NOTIFICATION_PROVIDER=http | fake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4513"/>
                </a:solidFill>
              </a:rPr>
              <a:t>CI/CD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227"/>
                </a:solidFill>
              </a:rPr>
              <a:t>GitHub Actions Workflow  —  push / PR → main 트리거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51760" cy="49377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" y="1719072"/>
            <a:ext cx="768096" cy="768096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33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3748"/>
                </a:solidFill>
              </a:rPr>
              <a:t>1. Backend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0672"/>
            <a:ext cx="210312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./gradlew test
19 통합 테스트
H2 인메모리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11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651760" cy="49377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64991" y="1719072"/>
            <a:ext cx="768096" cy="76809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33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3748"/>
                </a:solidFill>
              </a:rPr>
              <a:t>2. Web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090672"/>
            <a:ext cx="210312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2004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npm test (Jest)
npm run test:e2e
(Playwright)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611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2651760" cy="49377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91072" y="1719072"/>
            <a:ext cx="768096" cy="768096"/>
          </a:xfrm>
          <a:prstGeom prst="ellipse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633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3748"/>
                </a:solidFill>
              </a:rPr>
              <a:t>3. Flutter 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090672"/>
            <a:ext cx="210312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2004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flutter test
flutter build apk
--release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611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1371600"/>
            <a:ext cx="2651760" cy="4937760"/>
          </a:xfrm>
          <a:prstGeom prst="rect">
            <a:avLst/>
          </a:prstGeom>
          <a:solidFill>
            <a:srgbClr val="FD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1371600"/>
            <a:ext cx="2651760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17152" y="1719072"/>
            <a:ext cx="768096" cy="768096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633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3748"/>
                </a:solidFill>
              </a:rPr>
              <a:t>4. Deploy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3090672"/>
            <a:ext cx="2103120" cy="36576"/>
          </a:xfrm>
          <a:prstGeom prst="rect">
            <a:avLst/>
          </a:prstGeom>
          <a:solidFill>
            <a:srgbClr val="E2D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32004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6A4A"/>
                </a:solidFill>
              </a:rPr>
              <a:t>Docker build
Push to Registry
K8s/ECS Deploy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C94A"/>
                </a:solidFill>
              </a:rPr>
              <a:t>Staging: 자동 배포  ·  Production: 수동 승인 게이트 (Manual Approval Gate)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