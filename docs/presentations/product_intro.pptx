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01568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227"/>
                </a:solidFill>
              </a:rPr>
              <a:t>◆  ◆  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9A227"/>
                </a:solidFill>
              </a:rPr>
              <a:t>천지연꽃신당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C94A"/>
                </a:solidFill>
              </a:rPr>
              <a:t>온라인 점사·상담 예약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제품 소개서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914400" cy="2560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21207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208"/>
                </a:solidFill>
              </a:rPr>
              <a:t>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서비스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22860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한국 전통 점사/상담을</a:t>
            </a:r>
          </a:p>
          <a:p>
            <a:r>
              <a:rPr sz="1300" b="0">
                <a:solidFill>
                  <a:srgbClr val="FFFFFF"/>
                </a:solidFill>
              </a:rPr>
              <a:t>온라인으로 — 고객이</a:t>
            </a:r>
          </a:p>
          <a:p>
            <a:r>
              <a:rPr sz="1300" b="0">
                <a:solidFill>
                  <a:srgbClr val="FFFFFF"/>
                </a:solidFill>
              </a:rPr>
              <a:t>상담사를 탐색하고</a:t>
            </a:r>
          </a:p>
          <a:p>
            <a:r>
              <a:rPr sz="1300" b="0">
                <a:solidFill>
                  <a:srgbClr val="FFFFFF"/>
                </a:solidFill>
              </a:rPr>
              <a:t>예약·결제 후 화상으로</a:t>
            </a:r>
          </a:p>
          <a:p>
            <a:r>
              <a:rPr sz="1300" b="0">
                <a:solidFill>
                  <a:srgbClr val="FFFFFF"/>
                </a:solidFill>
              </a:rPr>
              <a:t>상담받는 원스톱 플랫폼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114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4513"/>
                </a:solidFill>
              </a:rPr>
              <a:t>핵심 서비스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005840"/>
            <a:ext cx="7223760" cy="13716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005840"/>
            <a:ext cx="72237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227"/>
                </a:solidFill>
              </a:rPr>
              <a:t>01 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검증된 상담사 프로필 · 리뷰 · 가격 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743200"/>
            <a:ext cx="7223760" cy="13716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743200"/>
            <a:ext cx="722376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971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4513"/>
                </a:solidFill>
              </a:rPr>
              <a:t>02  예약 · 결제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4290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원클릭 슬롯 선택 &amp; PortOne 안전결제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4480560"/>
            <a:ext cx="7223760" cy="13716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4480560"/>
            <a:ext cx="722376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7D46"/>
                </a:solidFill>
              </a:rPr>
              <a:t>03  화상상담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516636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Sendbird 기반 1:1 화상/음성 상담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핵심 가치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486400" cy="265176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4864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227"/>
                </a:solidFill>
              </a:rPr>
              <a:t>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05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3748"/>
                </a:solidFill>
              </a:rPr>
              <a:t>신뢰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검증된 상담사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996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리뷰 기반 매칭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0545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자격 심사 프로세스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5486400" cy="265176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548640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005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B4513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005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3748"/>
                </a:solidFill>
              </a:rPr>
              <a:t>편의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5544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모바일·웹 모두 지원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02996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24시간 예약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50545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Flutter 앱 제공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5486400" cy="265176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54864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56DB"/>
                </a:solidFill>
              </a:rPr>
              <a:t>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97763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3748"/>
                </a:solidFill>
              </a:rPr>
              <a:t>투명성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2627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상세 결제 내역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0176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명확한 환불 정책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77255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거래 명세서 제공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49039"/>
            <a:ext cx="5486400" cy="265176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49039"/>
            <a:ext cx="548640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9776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7D46"/>
                </a:solidFill>
              </a:rPr>
              <a:t>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97763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3748"/>
                </a:solidFill>
              </a:rPr>
              <a:t>안전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2627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JWT 인증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00176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AES-256 암호화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477255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결제 웹훅 HMAC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10312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227"/>
                </a:solidFill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C94A"/>
                </a:solidFill>
              </a:rPr>
              <a:t>페이지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274320"/>
            <a:ext cx="27432" cy="13716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286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227"/>
                </a:solidFill>
              </a:rPr>
              <a:t>58+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005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C94A"/>
                </a:solidFill>
              </a:rPr>
              <a:t>API 엔드포인트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74320"/>
            <a:ext cx="27432" cy="13716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227"/>
                </a:solidFill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005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C94A"/>
                </a:solidFill>
              </a:rPr>
              <a:t>통합 테스트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74320"/>
            <a:ext cx="27432" cy="13716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286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227"/>
                </a:solidFill>
              </a:rPr>
              <a:t>3-tier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005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C94A"/>
                </a:solidFill>
              </a:rPr>
              <a:t>아키텍처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40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4513"/>
                </a:solidFill>
              </a:rPr>
              <a:t>현재 구현 완료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97480"/>
            <a:ext cx="1143000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◆  회원가입/로그인 (JWT)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◆  상담사 탐색 &amp; 필터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◆  슬롯 예약 시스템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◆  PortOne 결제 통합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80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◆  Sendbird 화상상담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66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◆  지갑 (캐시)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51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◆  리뷰/환불/분쟁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937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◆  운영 대시보드 &amp; 통계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고객 여정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889504"/>
            <a:ext cx="11155680" cy="7315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2514600"/>
            <a:ext cx="822960" cy="8229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34930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748"/>
                </a:solidFill>
              </a:rPr>
              <a:t>회원가입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04164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6A4A"/>
                </a:solidFill>
              </a:rPr>
              <a:t>이메일/소셜
계정 생성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2514600"/>
            <a:ext cx="822960" cy="82296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4930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748"/>
                </a:solidFill>
              </a:rPr>
              <a:t>상담사
탐색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04164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6A4A"/>
                </a:solidFill>
              </a:rPr>
              <a:t>프로필·리뷰
비교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2514600"/>
            <a:ext cx="822960" cy="82296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4930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748"/>
                </a:solidFill>
              </a:rPr>
              <a:t>슬롯
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404164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6A4A"/>
                </a:solidFill>
              </a:rPr>
              <a:t>예약 가능
시간 선택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2514600"/>
            <a:ext cx="822960" cy="822960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4930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748"/>
                </a:solidFill>
              </a:rPr>
              <a:t>결제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04164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6A4A"/>
                </a:solidFill>
              </a:rPr>
              <a:t>PortOne
안전결제</a:t>
            </a:r>
          </a:p>
        </p:txBody>
      </p:sp>
      <p:sp>
        <p:nvSpPr>
          <p:cNvPr id="18" name="Oval 17"/>
          <p:cNvSpPr/>
          <p:nvPr/>
        </p:nvSpPr>
        <p:spPr>
          <a:xfrm>
            <a:off x="8275320" y="251460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4930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748"/>
                </a:solidFill>
              </a:rPr>
              <a:t>화상상담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04164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6A4A"/>
                </a:solidFill>
              </a:rPr>
              <a:t>Sendbird
1:1 상담</a:t>
            </a:r>
          </a:p>
        </p:txBody>
      </p:sp>
      <p:sp>
        <p:nvSpPr>
          <p:cNvPr id="21" name="Oval 20"/>
          <p:cNvSpPr/>
          <p:nvPr/>
        </p:nvSpPr>
        <p:spPr>
          <a:xfrm>
            <a:off x="10195560" y="2514600"/>
            <a:ext cx="822960" cy="822960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4930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748"/>
                </a:solidFill>
              </a:rPr>
              <a:t>리뷰
작성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404164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6A4A"/>
                </a:solidFill>
              </a:rPr>
              <a:t>별점·후기
등록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</a:rPr>
              <a:t>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</a:rPr>
              <a:t>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5740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Next.js 15
App Router
기반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57200"/>
            <a:ext cx="1188720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4846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공통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8686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로그인 /login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71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회원가입 /signup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홈 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77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대시보드 /dashboard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457200"/>
            <a:ext cx="1188720" cy="29260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846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고객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8686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상담사 목록 /counselors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371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예약 /bookings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지갑 /wallet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377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결제 /payments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657600"/>
            <a:ext cx="118872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6850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상담사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0690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상담사 포탈 /counselor/*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72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일정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074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상담 이력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778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수익 현황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657600"/>
            <a:ext cx="1188720" cy="292608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36850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어드민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0690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관리자 /admin/*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572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사용자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074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결제 모니터링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5778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  운영 통계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Flutter 모바일 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697480" cy="2286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69748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9768" y="1207008"/>
            <a:ext cx="694944" cy="69494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3748"/>
                </a:solidFill>
              </a:rPr>
              <a:t>인증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로그인 / 회원가입
세션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960120"/>
            <a:ext cx="2697480" cy="2286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960120"/>
            <a:ext cx="269748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55848" y="1207008"/>
            <a:ext cx="694944" cy="694944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3748"/>
                </a:solidFill>
              </a:rPr>
              <a:t>탐색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488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상담사 목록
필터 &amp; 검색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60120"/>
            <a:ext cx="2697480" cy="2286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960120"/>
            <a:ext cx="269748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81928" y="1207008"/>
            <a:ext cx="694944" cy="694944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3748"/>
                </a:solidFill>
              </a:rPr>
              <a:t>예약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488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슬롯 선택
예약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960120"/>
            <a:ext cx="2697480" cy="2286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960120"/>
            <a:ext cx="26974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08008" y="1207008"/>
            <a:ext cx="694944" cy="694944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1280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3748"/>
                </a:solidFill>
              </a:rPr>
              <a:t>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488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PortOne 래퍼
결제 내역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2697480" cy="2286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566160"/>
            <a:ext cx="269748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9768" y="3813048"/>
            <a:ext cx="694944" cy="694944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88620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3748"/>
                </a:solidFill>
              </a:rPr>
              <a:t>지갑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캐시 충전
거래 내역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566160"/>
            <a:ext cx="2697480" cy="2286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566160"/>
            <a:ext cx="2697480" cy="54864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55848" y="3813048"/>
            <a:ext cx="694944" cy="694944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388620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3748"/>
                </a:solidFill>
              </a:rPr>
              <a:t>상담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채팅룸 런치
화상통화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566160"/>
            <a:ext cx="2697480" cy="2286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566160"/>
            <a:ext cx="269748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81928" y="3813048"/>
            <a:ext cx="694944" cy="694944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88620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3748"/>
                </a:solidFill>
              </a:rPr>
              <a:t>리뷰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별점 &amp; 후기
제출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309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7D46"/>
                </a:solidFill>
              </a:rPr>
              <a:t>🤖 Android APK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6309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</a:rPr>
              <a:t>🍎 iOS IPA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63093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D6A4A"/>
                </a:solidFill>
              </a:rPr>
              <a:t>flutter build apk --release  /  flutter build ios --release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89904" cy="685800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904" y="0"/>
            <a:ext cx="6099048" cy="6858000"/>
          </a:xfrm>
          <a:prstGeom prst="rect">
            <a:avLst/>
          </a:prstGeom>
          <a:solidFill>
            <a:srgbClr val="F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62472" y="0"/>
            <a:ext cx="64008" cy="6858000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4513"/>
                </a:solidFill>
              </a:rPr>
              <a:t>결제 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85800"/>
            <a:ext cx="5303520" cy="36576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53035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960120"/>
            <a:ext cx="73152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PortOne 통합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prepare → verify → webhook 3단계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530352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73152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HMAC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웹훅 서명 검증으로 위변조 방지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20439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20439"/>
            <a:ext cx="530352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20439"/>
            <a:ext cx="73152" cy="109728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65759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보상 패턴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690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결제 확정 후 실패 시 재시도 대기열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00599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800599"/>
            <a:ext cx="530352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800599"/>
            <a:ext cx="73152" cy="1097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93775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결제 로그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492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PaymentStatusLog 전 상태 기록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82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지갑 (캐시)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685800"/>
            <a:ext cx="530352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960120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960120"/>
            <a:ext cx="53035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960120"/>
            <a:ext cx="731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잔액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사용자별 캐시 잔액 조회/충전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240280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240280"/>
            <a:ext cx="530352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2240280"/>
            <a:ext cx="73152" cy="109728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거래 내역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charge / deduct / refund 트랜잭션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520439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520439"/>
            <a:ext cx="530352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520439"/>
            <a:ext cx="73152" cy="10972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365759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분산 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40690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Redis 기반 동시성 제어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800599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800599"/>
            <a:ext cx="53035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4800599"/>
            <a:ext cx="73152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93775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상품 패키지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3492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캐시 패키지 구매 상품 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227"/>
                </a:solidFill>
              </a:rPr>
              <a:t>보안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651760" cy="224028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" y="1280160"/>
            <a:ext cx="585216" cy="5852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801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JWT 인증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C94A"/>
                </a:solidFill>
              </a:rPr>
              <a:t>Access/Refresh 토큰 이중 구조
HMAC-SHA256 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914400"/>
            <a:ext cx="2651760" cy="224028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914400"/>
            <a:ext cx="265176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64992" y="1280160"/>
            <a:ext cx="585216" cy="585216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2801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역할 기반 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C94A"/>
                </a:solidFill>
              </a:rPr>
              <a:t>ROLE_USER / ROLE_COUNSELOR
ROLE_ADMIN 3계층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14400"/>
            <a:ext cx="2651760" cy="224028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914400"/>
            <a:ext cx="265176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91072" y="1280160"/>
            <a:ext cx="585216" cy="585216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2801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HTTPS/TLS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C94A"/>
                </a:solidFill>
              </a:rPr>
              <a:t>전 구간 암호화
Security Headers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914400"/>
            <a:ext cx="2651760" cy="224028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914400"/>
            <a:ext cx="265176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17152" y="1280160"/>
            <a:ext cx="585216" cy="585216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2801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결제 보안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C94A"/>
                </a:solidFill>
              </a:rPr>
              <a:t>PortOne HMAC 웹훅 검증
결제 금액 서버 재검증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2651760" cy="224028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474720"/>
            <a:ext cx="265176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8912" y="3840479"/>
            <a:ext cx="585216" cy="585216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입력 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C94A"/>
                </a:solidFill>
              </a:rPr>
              <a:t>Bean Validation
SQL Injection 방어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474720"/>
            <a:ext cx="2651760" cy="224028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474720"/>
            <a:ext cx="2651760" cy="54864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64992" y="3840479"/>
            <a:ext cx="585216" cy="585216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분산 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C94A"/>
                </a:solidFill>
              </a:rPr>
              <a:t>Redis 기반 지갑 동시성
이중 차감 방지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474720"/>
            <a:ext cx="2651760" cy="224028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474720"/>
            <a:ext cx="265176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91072" y="3840479"/>
            <a:ext cx="585216" cy="585216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CORS 설정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C94A"/>
                </a:solidFill>
              </a:rPr>
              <a:t>허용 오리진 화이트리스트
Preflight 처리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74720"/>
            <a:ext cx="2651760" cy="224028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0" y="3474720"/>
            <a:ext cx="2651760" cy="54864"/>
          </a:xfrm>
          <a:prstGeom prst="rect">
            <a:avLst/>
          </a:prstGeom>
          <a:solidFill>
            <a:srgbClr val="0E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17152" y="3840479"/>
            <a:ext cx="585216" cy="585216"/>
          </a:xfrm>
          <a:prstGeom prst="ellipse">
            <a:avLst/>
          </a:prstGeom>
          <a:solidFill>
            <a:srgbClr val="0E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Rate Limit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C94A"/>
                </a:solidFill>
              </a:rPr>
              <a:t>버킷4j 요청 제한
DDoS 기본 방어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개발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91440" cy="5029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2606040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9326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기반 구축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265176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Spring Boot 3.5 세팅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Flyway DB 마이그레이션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3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JWT 인증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9767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기본 CRUD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914400"/>
            <a:ext cx="91440" cy="5029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914400"/>
            <a:ext cx="2606040" cy="34747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9326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3898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핵심 도메인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847088"/>
            <a:ext cx="265176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상담사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예약/슬롯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52043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PortOne 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29767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채팅룸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914400"/>
            <a:ext cx="91440" cy="5029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914400"/>
            <a:ext cx="2606040" cy="3474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9326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3898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고급 기능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847088"/>
            <a:ext cx="265176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지갑/캐시 시스템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리뷰 &amp; 환불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2043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분쟁 처리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29767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Sendbird 화상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914400"/>
            <a:ext cx="91440" cy="50292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914400"/>
            <a:ext cx="2606040" cy="347472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9326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13898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완성 &amp; 배포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1847088"/>
            <a:ext cx="265176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Flutter 앱 완성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운영 대시보드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52043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CI/CD 파이프라인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29767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▸  K8s 배포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77240"/>
            <a:ext cx="3611880" cy="256032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361188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4183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333756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435607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Spring Boot 3.5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7465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Java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574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Gradle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36829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Flyway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679191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H2/MySQL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9900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Redis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777240"/>
            <a:ext cx="3611880" cy="256032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777240"/>
            <a:ext cx="36118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94183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Frontend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344168"/>
            <a:ext cx="333756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1" y="1435607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Next.js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1" y="17465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React 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1" y="20574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TypeScript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1" y="236829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Tailwind v4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1" y="2679191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shadcn/ui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1" y="29900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Jest/Playwright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777240"/>
            <a:ext cx="3611880" cy="256032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777240"/>
            <a:ext cx="361188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94183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Mobile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344168"/>
            <a:ext cx="333756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1435607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Flutter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17465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Dart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20574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PortOne SDK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236829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Sendbird SDK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2679191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Provider 상태관리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703320"/>
            <a:ext cx="3611880" cy="256032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703320"/>
            <a:ext cx="361188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867911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External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70248"/>
            <a:ext cx="333756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43616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PortOne (결제)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4672583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Sendbird (채팅/화상)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4983479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Redis (분산락)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5294375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GitHub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56052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Docker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59" y="3703320"/>
            <a:ext cx="3611880" cy="256032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59" y="3703320"/>
            <a:ext cx="361188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3867911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CI/CD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4270248"/>
            <a:ext cx="333756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16551" y="43616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GitHub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16551" y="4672583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Docker Build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6551" y="4983479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K8s 배포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6551" y="5294375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테스트 자동화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16551" y="56052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Staging/Prod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227"/>
                </a:solidFill>
              </a:rPr>
              <a:t>◆  ◆  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C94A"/>
                </a:solidFill>
              </a:rPr>
              <a:t>함께 만들어가는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9A227"/>
                </a:solidFill>
              </a:rPr>
              <a:t>신뢰의 상담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D6A4A"/>
                </a:solidFill>
              </a:rPr>
              <a:t>천지연꽃신당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86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D6A4A"/>
                </a:solidFill>
              </a:rPr>
              <a:t>contact@cheonjiyeon.kr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